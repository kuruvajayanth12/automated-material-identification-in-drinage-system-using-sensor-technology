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4863" y="227202"/>
            <a:ext cx="8898686" cy="750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076959"/>
            <a:ext cx="10741660" cy="4772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886945" y="6616395"/>
            <a:ext cx="219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ieeexplore.ieee.org/stamp/stamp.jsp?tp&amp;arnumber=9623149" TargetMode="External"/><Relationship Id="rId3" Type="http://schemas.openxmlformats.org/officeDocument/2006/relationships/hyperlink" Target="https://ieeexplore.ieee.org/document/10084257" TargetMode="External"/><Relationship Id="rId4" Type="http://schemas.openxmlformats.org/officeDocument/2006/relationships/hyperlink" Target="https://ieeexplore.ieee.org/document/10497198" TargetMode="External"/><Relationship Id="rId5" Type="http://schemas.openxmlformats.org/officeDocument/2006/relationships/hyperlink" Target="https://ieeexplore.ieee.org/document/10070054" TargetMode="External"/><Relationship Id="rId6" Type="http://schemas.openxmlformats.org/officeDocument/2006/relationships/hyperlink" Target="https://link.springer.com/chapter/10.1007/978-981-99-5085-0_23" TargetMode="External"/><Relationship Id="rId7" Type="http://schemas.openxmlformats.org/officeDocument/2006/relationships/hyperlink" Target="https://ijercse.com/article/1%20April%202025%20IJERCSE.pdf" TargetMode="External"/><Relationship Id="rId8" Type="http://schemas.openxmlformats.org/officeDocument/2006/relationships/hyperlink" Target="https://ijrpr.com/uploads/V4ISSUE10/IJRPR18367.pdf" TargetMode="External"/><Relationship Id="rId9" Type="http://schemas.openxmlformats.org/officeDocument/2006/relationships/hyperlink" Target="https://hittransaction.in/journals/10_NSIC2025/CRC-03.pdf" TargetMode="External"/><Relationship Id="rId10" Type="http://schemas.openxmlformats.org/officeDocument/2006/relationships/hyperlink" Target="https://www.ijsdr.org/papers/IJSDR1905040.pdf" TargetMode="External"/><Relationship Id="rId11" Type="http://schemas.openxmlformats.org/officeDocument/2006/relationships/hyperlink" Target="https://www.irejournals.com/formatedpaper/1700668.pdf" TargetMode="External"/><Relationship Id="rId12" Type="http://schemas.openxmlformats.org/officeDocument/2006/relationships/hyperlink" Target="https://link.springer.com/article/10.1007/s10230-025-01063-y" TargetMode="External"/><Relationship Id="rId13" Type="http://schemas.openxmlformats.org/officeDocument/2006/relationships/hyperlink" Target="https://link.springer.com/article/10.1007/s10311-025-01874-z" TargetMode="External"/><Relationship Id="rId14" Type="http://schemas.openxmlformats.org/officeDocument/2006/relationships/hyperlink" Target="https://www.jetir.org/papers/JETIR2405620.pdf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link.springer.com/article/10.1007/s10661-025-14081-8" TargetMode="External"/><Relationship Id="rId3" Type="http://schemas.openxmlformats.org/officeDocument/2006/relationships/hyperlink" Target="https://link.springer.com/article/10.1007/s10661-025-13675-6" TargetMode="External"/><Relationship Id="rId4" Type="http://schemas.openxmlformats.org/officeDocument/2006/relationships/hyperlink" Target="https://www.ijraset.com/research-paper/automatic-drainage-monitoring-and-control-system" TargetMode="External"/><Relationship Id="rId5" Type="http://schemas.openxmlformats.org/officeDocument/2006/relationships/hyperlink" Target="https://ijrpr.com/uploads/V5ISSUE5/IJRPR27265.pdf" TargetMode="External"/><Relationship Id="rId6" Type="http://schemas.openxmlformats.org/officeDocument/2006/relationships/hyperlink" Target="https://www.tandfonline.com/doi/full/10.1080/15623599.2022.2085853" TargetMode="External"/><Relationship Id="rId7" Type="http://schemas.openxmlformats.org/officeDocument/2006/relationships/hyperlink" Target="https://www.sciencedirect.com/science/article/abs/pii/S0926580516304319" TargetMode="External"/><Relationship Id="rId8" Type="http://schemas.openxmlformats.org/officeDocument/2006/relationships/hyperlink" Target="https://www.sciencedirect.com/science/article/pii/S2095756417300788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30571" y="389692"/>
            <a:ext cx="4493260" cy="1878964"/>
            <a:chOff x="7630571" y="389692"/>
            <a:chExt cx="4493260" cy="187896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0571" y="389692"/>
              <a:ext cx="4492897" cy="187847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2207" y="548639"/>
              <a:ext cx="4032504" cy="138137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209547" y="1949957"/>
            <a:ext cx="26765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5" b="0">
                <a:solidFill>
                  <a:srgbClr val="888888"/>
                </a:solidFill>
                <a:latin typeface="Times New Roman"/>
                <a:cs typeface="Times New Roman"/>
              </a:rPr>
              <a:t>Team</a:t>
            </a:r>
            <a:r>
              <a:rPr dirty="0" sz="3200" spc="-170" b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0">
                <a:solidFill>
                  <a:srgbClr val="888888"/>
                </a:solidFill>
                <a:latin typeface="Times New Roman"/>
                <a:cs typeface="Times New Roman"/>
              </a:rPr>
              <a:t>Members: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1667001" y="2443733"/>
            <a:ext cx="5019040" cy="13423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527685" algn="l"/>
              </a:tabLst>
            </a:pPr>
            <a:r>
              <a:rPr dirty="0" sz="1800" spc="-50">
                <a:solidFill>
                  <a:srgbClr val="888888"/>
                </a:solidFill>
                <a:latin typeface="Times New Roman"/>
                <a:cs typeface="Times New Roman"/>
              </a:rPr>
              <a:t>KURUVA</a:t>
            </a:r>
            <a:r>
              <a:rPr dirty="0" sz="1800" spc="-8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JAYANTH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527685" algn="l"/>
              </a:tabLst>
            </a:pP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VULLIKANTI</a:t>
            </a:r>
            <a:r>
              <a:rPr dirty="0" sz="1800" spc="-6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888888"/>
                </a:solidFill>
                <a:latin typeface="Times New Roman"/>
                <a:cs typeface="Times New Roman"/>
              </a:rPr>
              <a:t>VIBHUDESWAR</a:t>
            </a:r>
            <a:r>
              <a:rPr dirty="0" sz="18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888888"/>
                </a:solidFill>
                <a:latin typeface="Times New Roman"/>
                <a:cs typeface="Times New Roman"/>
              </a:rPr>
              <a:t>REDDY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527685" algn="l"/>
              </a:tabLst>
            </a:pPr>
            <a:r>
              <a:rPr dirty="0" sz="1800" spc="-30">
                <a:solidFill>
                  <a:srgbClr val="888888"/>
                </a:solidFill>
                <a:latin typeface="Times New Roman"/>
                <a:cs typeface="Times New Roman"/>
              </a:rPr>
              <a:t>CHINTAPALLI</a:t>
            </a:r>
            <a:r>
              <a:rPr dirty="0" sz="1800" spc="-2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800" spc="-60">
                <a:solidFill>
                  <a:srgbClr val="888888"/>
                </a:solidFill>
                <a:latin typeface="Times New Roman"/>
                <a:cs typeface="Times New Roman"/>
              </a:rPr>
              <a:t>VENKATA</a:t>
            </a:r>
            <a:r>
              <a:rPr dirty="0" sz="1800" spc="-10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KRISHNA</a:t>
            </a:r>
            <a:r>
              <a:rPr dirty="0" sz="1800" spc="-7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REDDY</a:t>
            </a:r>
            <a:endParaRPr sz="1800">
              <a:latin typeface="Times New Roman"/>
              <a:cs typeface="Times New Roman"/>
            </a:endParaRPr>
          </a:p>
          <a:p>
            <a:pPr marL="525780" indent="-51308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525780" algn="l"/>
              </a:tabLst>
            </a:pP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KARNA</a:t>
            </a:r>
            <a:r>
              <a:rPr dirty="0" sz="1800" spc="-6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CHARAN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3641" y="2443733"/>
            <a:ext cx="2159635" cy="13423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530"/>
              </a:spcBef>
            </a:pPr>
            <a:r>
              <a:rPr dirty="0" sz="1800">
                <a:solidFill>
                  <a:srgbClr val="888888"/>
                </a:solidFill>
                <a:latin typeface="Times New Roman"/>
                <a:cs typeface="Times New Roman"/>
              </a:rPr>
              <a:t>2023BCSE</a:t>
            </a:r>
            <a:r>
              <a:rPr dirty="0" sz="18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07AED228</a:t>
            </a:r>
            <a:endParaRPr sz="18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434"/>
              </a:spcBef>
            </a:pP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2023BCSE07AED281</a:t>
            </a:r>
            <a:endParaRPr sz="18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430"/>
              </a:spcBef>
            </a:pP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2023BCSE07AED282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800" spc="-10">
                <a:solidFill>
                  <a:srgbClr val="888888"/>
                </a:solidFill>
                <a:latin typeface="Times New Roman"/>
                <a:cs typeface="Times New Roman"/>
              </a:rPr>
              <a:t>2023BCSE07AED283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9547" y="4267034"/>
            <a:ext cx="7371715" cy="1050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dirty="0" sz="2800">
                <a:solidFill>
                  <a:srgbClr val="888888"/>
                </a:solidFill>
                <a:latin typeface="Times New Roman"/>
                <a:cs typeface="Times New Roman"/>
              </a:rPr>
              <a:t>Name</a:t>
            </a:r>
            <a:r>
              <a:rPr dirty="0" sz="2800" spc="1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2800" spc="-1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888888"/>
                </a:solidFill>
                <a:latin typeface="Times New Roman"/>
                <a:cs typeface="Times New Roman"/>
              </a:rPr>
              <a:t>the</a:t>
            </a:r>
            <a:r>
              <a:rPr dirty="0" sz="28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888888"/>
                </a:solidFill>
                <a:latin typeface="Times New Roman"/>
                <a:cs typeface="Times New Roman"/>
              </a:rPr>
              <a:t>Mentor:</a:t>
            </a:r>
            <a:r>
              <a:rPr dirty="0" sz="28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888888"/>
                </a:solidFill>
                <a:latin typeface="Times New Roman"/>
                <a:cs typeface="Times New Roman"/>
              </a:rPr>
              <a:t>MS.</a:t>
            </a:r>
            <a:r>
              <a:rPr dirty="0" sz="2800" spc="-1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 spc="-55">
                <a:solidFill>
                  <a:srgbClr val="888888"/>
                </a:solidFill>
                <a:latin typeface="Times New Roman"/>
                <a:cs typeface="Times New Roman"/>
              </a:rPr>
              <a:t>NIVEDITA</a:t>
            </a:r>
            <a:r>
              <a:rPr dirty="0" sz="2800" spc="-114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888888"/>
                </a:solidFill>
                <a:latin typeface="Times New Roman"/>
                <a:cs typeface="Times New Roman"/>
              </a:rPr>
              <a:t>MANOHAR </a:t>
            </a:r>
            <a:r>
              <a:rPr dirty="0" sz="2800">
                <a:solidFill>
                  <a:srgbClr val="888888"/>
                </a:solidFill>
                <a:latin typeface="Times New Roman"/>
                <a:cs typeface="Times New Roman"/>
              </a:rPr>
              <a:t>5CS1990</a:t>
            </a:r>
            <a:r>
              <a:rPr dirty="0" sz="2800" spc="-7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888888"/>
                </a:solidFill>
                <a:latin typeface="Times New Roman"/>
                <a:cs typeface="Times New Roman"/>
              </a:rPr>
              <a:t>Design</a:t>
            </a:r>
            <a:r>
              <a:rPr dirty="0" sz="2800" spc="-5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888888"/>
                </a:solidFill>
                <a:latin typeface="Times New Roman"/>
                <a:cs typeface="Times New Roman"/>
              </a:rPr>
              <a:t>Project</a:t>
            </a:r>
            <a:r>
              <a:rPr dirty="0" sz="2800" spc="-7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888888"/>
                </a:solidFill>
                <a:latin typeface="Times New Roman"/>
                <a:cs typeface="Times New Roman"/>
              </a:rPr>
              <a:t>-</a:t>
            </a:r>
            <a:r>
              <a:rPr dirty="0" sz="2800" spc="-5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2925" y="729487"/>
            <a:ext cx="6189980" cy="7112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675"/>
              </a:spcBef>
            </a:pP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Automated</a:t>
            </a:r>
            <a:r>
              <a:rPr dirty="0" sz="2500" spc="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Material</a:t>
            </a:r>
            <a:r>
              <a:rPr dirty="0" sz="2500" spc="5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Identification</a:t>
            </a:r>
            <a:r>
              <a:rPr dirty="0" sz="2500" spc="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2500" spc="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FF0000"/>
                </a:solidFill>
                <a:latin typeface="Calibri"/>
                <a:cs typeface="Calibri"/>
              </a:rPr>
              <a:t>Drainage Systems</a:t>
            </a:r>
            <a:r>
              <a:rPr dirty="0" sz="2500" spc="-8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Using</a:t>
            </a:r>
            <a:r>
              <a:rPr dirty="0" sz="2500" spc="-9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Sensor</a:t>
            </a:r>
            <a:r>
              <a:rPr dirty="0" sz="2500" spc="-7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FF0000"/>
                </a:solidFill>
                <a:latin typeface="Calibri"/>
                <a:cs typeface="Calibri"/>
              </a:rPr>
              <a:t>Technology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719454"/>
            <a:ext cx="10152380" cy="5257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355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14"/>
              </a:spcBef>
              <a:buAutoNum type="arabicPeriod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Review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literature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(Refer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minimum of 10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Recent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Journal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/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Conference</a:t>
            </a:r>
            <a:r>
              <a:rPr dirty="0" sz="2400" spc="-10">
                <a:latin typeface="Times New Roman"/>
                <a:cs typeface="Times New Roman"/>
              </a:rPr>
              <a:t> papers)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20"/>
              </a:spcBef>
              <a:buAutoNum type="arabicPeriod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Observations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literature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review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(Brief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description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points)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15"/>
              </a:spcBef>
              <a:buAutoNum type="arabicPeriod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Limitations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literature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review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(Brief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description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 </a:t>
            </a:r>
            <a:r>
              <a:rPr dirty="0" sz="2400" spc="-10">
                <a:latin typeface="Times New Roman"/>
                <a:cs typeface="Times New Roman"/>
              </a:rPr>
              <a:t>points)</a:t>
            </a:r>
            <a:endParaRPr sz="24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spcBef>
                <a:spcPts val="2014"/>
              </a:spcBef>
              <a:buAutoNum type="arabicPeriod"/>
              <a:tabLst>
                <a:tab pos="354330" algn="l"/>
              </a:tabLst>
            </a:pPr>
            <a:r>
              <a:rPr dirty="0" sz="2400">
                <a:latin typeface="Times New Roman"/>
                <a:cs typeface="Times New Roman"/>
              </a:rPr>
              <a:t>Problem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Definition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 Proposed </a:t>
            </a:r>
            <a:r>
              <a:rPr dirty="0" sz="2400" spc="-1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lvl="1" marL="927100" indent="-513715">
              <a:lnSpc>
                <a:spcPct val="100000"/>
              </a:lnSpc>
              <a:spcBef>
                <a:spcPts val="1095"/>
              </a:spcBef>
              <a:buAutoNum type="alphaLcPeriod"/>
              <a:tabLst>
                <a:tab pos="927100" algn="l"/>
              </a:tabLst>
            </a:pPr>
            <a:r>
              <a:rPr dirty="0" sz="2400">
                <a:latin typeface="Times New Roman"/>
                <a:cs typeface="Times New Roman"/>
              </a:rPr>
              <a:t>Problem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lvl="1" marL="927100" indent="-513715">
              <a:lnSpc>
                <a:spcPct val="100000"/>
              </a:lnSpc>
              <a:spcBef>
                <a:spcPts val="575"/>
              </a:spcBef>
              <a:buAutoNum type="alphaLcPeriod"/>
              <a:tabLst>
                <a:tab pos="927100" algn="l"/>
              </a:tabLst>
            </a:pPr>
            <a:r>
              <a:rPr dirty="0" sz="2400">
                <a:latin typeface="Times New Roman"/>
                <a:cs typeface="Times New Roman"/>
              </a:rPr>
              <a:t>Proposed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Research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/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lvl="1" marL="927100" indent="-513715">
              <a:lnSpc>
                <a:spcPct val="100000"/>
              </a:lnSpc>
              <a:spcBef>
                <a:spcPts val="575"/>
              </a:spcBef>
              <a:buAutoNum type="alphaLcPeriod"/>
              <a:tabLst>
                <a:tab pos="927100" algn="l"/>
              </a:tabLst>
            </a:pPr>
            <a:r>
              <a:rPr dirty="0" sz="2400">
                <a:latin typeface="Times New Roman"/>
                <a:cs typeface="Times New Roman"/>
              </a:rPr>
              <a:t>Hardware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lvl="1" marL="927100" indent="-513715">
              <a:lnSpc>
                <a:spcPct val="100000"/>
              </a:lnSpc>
              <a:spcBef>
                <a:spcPts val="580"/>
              </a:spcBef>
              <a:buAutoNum type="alphaLcPeriod"/>
              <a:tabLst>
                <a:tab pos="927100" algn="l"/>
              </a:tabLst>
            </a:pP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References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 Min.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papers)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15788" y="104901"/>
            <a:ext cx="135953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/>
              <a:t>Agenda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51" rIns="0" bIns="0" rtlCol="0" vert="horz">
            <a:spAutoFit/>
          </a:bodyPr>
          <a:lstStyle/>
          <a:p>
            <a:pPr marL="4537075">
              <a:lnSpc>
                <a:spcPct val="100000"/>
              </a:lnSpc>
              <a:spcBef>
                <a:spcPts val="100"/>
              </a:spcBef>
            </a:pPr>
            <a:r>
              <a:rPr dirty="0" sz="3200" spc="-10"/>
              <a:t>Introduction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88340" y="1148841"/>
            <a:ext cx="10784840" cy="3806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8509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years,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technology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emerged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effective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enhancing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waste </a:t>
            </a: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management.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employing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combination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infrared,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ultrasonic,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metal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detectors,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becomes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possible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automatically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type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present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in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flow.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enables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early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obstructions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facilitates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targeted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removal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harmful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before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accumulates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major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blockages.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project,</a:t>
            </a:r>
            <a:r>
              <a:rPr dirty="0" sz="2000" spc="-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Identification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Technology, </a:t>
            </a:r>
            <a:r>
              <a:rPr dirty="0" sz="2000">
                <a:latin typeface="Times New Roman"/>
                <a:cs typeface="Times New Roman"/>
              </a:rPr>
              <a:t>aims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implement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capable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distinguishing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plastics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time.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microcontroller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module,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collected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transmitted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units.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innovation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contributes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aligning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modern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city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frameworks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environmental </a:t>
            </a:r>
            <a:r>
              <a:rPr dirty="0" sz="2000">
                <a:latin typeface="Times New Roman"/>
                <a:cs typeface="Times New Roman"/>
              </a:rPr>
              <a:t>sustainability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goals.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03" y="256960"/>
            <a:ext cx="10914396" cy="61463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354"/>
              </a:lnSpc>
              <a:spcBef>
                <a:spcPts val="95"/>
              </a:spcBef>
            </a:pPr>
            <a:r>
              <a:rPr dirty="0" spc="-10" b="0">
                <a:latin typeface="Times New Roman"/>
                <a:cs typeface="Times New Roman"/>
              </a:rPr>
              <a:t>Sensors:</a:t>
            </a:r>
          </a:p>
          <a:p>
            <a:pPr marL="12700">
              <a:lnSpc>
                <a:spcPts val="2155"/>
              </a:lnSpc>
            </a:pPr>
            <a:r>
              <a:rPr dirty="0" sz="1800" b="0">
                <a:latin typeface="Times New Roman"/>
                <a:cs typeface="Times New Roman"/>
              </a:rPr>
              <a:t>M18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NPN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No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3</a:t>
            </a:r>
            <a:r>
              <a:rPr dirty="0" sz="1800" spc="-60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Wires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Photoelectric</a:t>
            </a:r>
            <a:r>
              <a:rPr dirty="0" sz="1800" spc="-50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Sensor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 descr="A close-up of a cabl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4400" y="1869439"/>
            <a:ext cx="5100320" cy="45923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48133"/>
            <a:ext cx="10308590" cy="204914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08610" indent="-295910">
              <a:lnSpc>
                <a:spcPct val="100000"/>
              </a:lnSpc>
              <a:spcBef>
                <a:spcPts val="305"/>
              </a:spcBef>
              <a:buSzPct val="120000"/>
              <a:buFont typeface="Times New Roman"/>
              <a:buAutoNum type="arabicPeriod"/>
              <a:tabLst>
                <a:tab pos="308610" algn="l"/>
              </a:tabLst>
            </a:pPr>
            <a:r>
              <a:rPr dirty="0" sz="2000" b="1">
                <a:latin typeface="Times New Roman"/>
                <a:cs typeface="Times New Roman"/>
              </a:rPr>
              <a:t>IoT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architecture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trade-</a:t>
            </a:r>
            <a:r>
              <a:rPr dirty="0" sz="2000" b="1">
                <a:latin typeface="Times New Roman"/>
                <a:cs typeface="Times New Roman"/>
              </a:rPr>
              <a:t>offs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power,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range,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cost,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cloud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vs.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edge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processing.</a:t>
            </a:r>
            <a:endParaRPr sz="20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635"/>
              </a:spcBef>
              <a:buSzPct val="120000"/>
              <a:buFont typeface="Times New Roman"/>
              <a:buAutoNum type="arabicPeriod"/>
              <a:tabLst>
                <a:tab pos="317500" algn="l"/>
              </a:tabLst>
            </a:pPr>
            <a:r>
              <a:rPr dirty="0" sz="2000" b="1">
                <a:latin typeface="Times New Roman"/>
                <a:cs typeface="Times New Roman"/>
              </a:rPr>
              <a:t>Prototypes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field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trials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blockage/waste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inspections</a:t>
            </a:r>
            <a:endParaRPr sz="200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spcBef>
                <a:spcPts val="520"/>
              </a:spcBef>
              <a:buSzPct val="120000"/>
              <a:buFont typeface="Times New Roman"/>
              <a:buAutoNum type="arabicPeriod"/>
              <a:tabLst>
                <a:tab pos="309880" algn="l"/>
              </a:tabLst>
            </a:pPr>
            <a:r>
              <a:rPr dirty="0" sz="2000" b="1">
                <a:latin typeface="Times New Roman"/>
                <a:cs typeface="Times New Roman"/>
              </a:rPr>
              <a:t>Design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insights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importance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fusion,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low-cost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(ESP32),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modularity.</a:t>
            </a:r>
            <a:endParaRPr sz="200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spcBef>
                <a:spcPts val="575"/>
              </a:spcBef>
              <a:buSzPct val="120000"/>
              <a:buFont typeface="Times New Roman"/>
              <a:buAutoNum type="arabicPeriod"/>
              <a:tabLst>
                <a:tab pos="309880" algn="l"/>
              </a:tabLst>
            </a:pPr>
            <a:r>
              <a:rPr dirty="0" sz="2000" b="1">
                <a:latin typeface="Times New Roman"/>
                <a:cs typeface="Times New Roman"/>
              </a:rPr>
              <a:t>Research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gaps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classification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(e.g.,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wrappers)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long-</a:t>
            </a:r>
            <a:r>
              <a:rPr dirty="0" sz="2000" spc="-20">
                <a:latin typeface="Times New Roman"/>
                <a:cs typeface="Times New Roman"/>
              </a:rPr>
              <a:t>term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000">
                <a:latin typeface="Times New Roman"/>
                <a:cs typeface="Times New Roman"/>
              </a:rPr>
              <a:t>maintenance/calibration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challenges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51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Observations</a:t>
            </a:r>
            <a:r>
              <a:rPr dirty="0" sz="3200" spc="-85"/>
              <a:t> </a:t>
            </a:r>
            <a:r>
              <a:rPr dirty="0" sz="3200"/>
              <a:t>from</a:t>
            </a:r>
            <a:r>
              <a:rPr dirty="0" sz="3200" spc="-70"/>
              <a:t> </a:t>
            </a:r>
            <a:r>
              <a:rPr dirty="0" sz="3200"/>
              <a:t>the</a:t>
            </a:r>
            <a:r>
              <a:rPr dirty="0" sz="3200" spc="-55"/>
              <a:t> </a:t>
            </a:r>
            <a:r>
              <a:rPr dirty="0" sz="3200"/>
              <a:t>Literature</a:t>
            </a:r>
            <a:r>
              <a:rPr dirty="0" sz="3200" spc="-65"/>
              <a:t> </a:t>
            </a:r>
            <a:r>
              <a:rPr dirty="0" sz="3200" spc="-10"/>
              <a:t>Review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51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Limitations</a:t>
            </a:r>
            <a:r>
              <a:rPr dirty="0" sz="3200" spc="-80"/>
              <a:t> </a:t>
            </a:r>
            <a:r>
              <a:rPr dirty="0" sz="3200"/>
              <a:t>from</a:t>
            </a:r>
            <a:r>
              <a:rPr dirty="0" sz="3200" spc="-45"/>
              <a:t> </a:t>
            </a:r>
            <a:r>
              <a:rPr dirty="0" sz="3200"/>
              <a:t>the</a:t>
            </a:r>
            <a:r>
              <a:rPr dirty="0" sz="3200" spc="-45"/>
              <a:t> </a:t>
            </a:r>
            <a:r>
              <a:rPr dirty="0" sz="3200"/>
              <a:t>Literature</a:t>
            </a:r>
            <a:r>
              <a:rPr dirty="0" sz="3200" spc="-70"/>
              <a:t> </a:t>
            </a:r>
            <a:r>
              <a:rPr dirty="0" sz="3200" spc="-10"/>
              <a:t>Review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9072" y="1003808"/>
            <a:ext cx="9298940" cy="304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 marR="5080" indent="-66675">
              <a:lnSpc>
                <a:spcPct val="100000"/>
              </a:lnSpc>
              <a:spcBef>
                <a:spcPts val="100"/>
              </a:spcBef>
              <a:buSzPct val="94444"/>
              <a:buFont typeface="Times New Roman"/>
              <a:buChar char="•"/>
              <a:tabLst>
                <a:tab pos="68580" algn="l"/>
                <a:tab pos="90805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	</a:t>
            </a:r>
            <a:r>
              <a:rPr dirty="0" sz="1800" spc="-10" b="1">
                <a:latin typeface="Times New Roman"/>
                <a:cs typeface="Times New Roman"/>
              </a:rPr>
              <a:t>Sensor</a:t>
            </a:r>
            <a:r>
              <a:rPr dirty="0" sz="1800" spc="-1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Accuracy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Issues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always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exact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chemical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composition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type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of </a:t>
            </a:r>
            <a:r>
              <a:rPr dirty="0" sz="1800">
                <a:latin typeface="Times New Roman"/>
                <a:cs typeface="Times New Roman"/>
              </a:rPr>
              <a:t>plastic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water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impurities,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mixed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waste,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overlapping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signals.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dirty="0" sz="1800" b="1">
                <a:latin typeface="Times New Roman"/>
                <a:cs typeface="Times New Roman"/>
              </a:rPr>
              <a:t>Environmental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Interference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Presence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mud,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oil,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sewage,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biological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matter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interfere</a:t>
            </a:r>
            <a:endParaRPr sz="1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readings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efficiency.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 marR="313690" indent="-88900">
              <a:lnSpc>
                <a:spcPct val="100000"/>
              </a:lnSpc>
              <a:buSzPct val="94444"/>
              <a:buFont typeface="Times New Roman"/>
              <a:buChar char="•"/>
              <a:tabLst>
                <a:tab pos="127000" algn="l"/>
              </a:tabLst>
            </a:pPr>
            <a:r>
              <a:rPr dirty="0" sz="1800" b="1">
                <a:latin typeface="Times New Roman"/>
                <a:cs typeface="Times New Roman"/>
              </a:rPr>
              <a:t>Maintenance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Requirements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drainage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require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regular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calibration,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cleaning,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replacement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clogging,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corrosion,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biofouling.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91440" marR="118745" indent="-88900">
              <a:lnSpc>
                <a:spcPct val="100000"/>
              </a:lnSpc>
              <a:buSzPct val="94444"/>
              <a:buFont typeface="Times New Roman"/>
              <a:buChar char="•"/>
              <a:tabLst>
                <a:tab pos="127000" algn="l"/>
              </a:tabLst>
            </a:pPr>
            <a:r>
              <a:rPr dirty="0" sz="1800" b="1">
                <a:latin typeface="Times New Roman"/>
                <a:cs typeface="Times New Roman"/>
              </a:rPr>
              <a:t>High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Initial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Cost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Deploying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advanced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chemical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capacitive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large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drainage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networks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expensive.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76959"/>
            <a:ext cx="10471785" cy="20504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991869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“Automated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Identification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Sensor </a:t>
            </a:r>
            <a:r>
              <a:rPr dirty="0" sz="2000" spc="-25">
                <a:latin typeface="Times New Roman"/>
                <a:cs typeface="Times New Roman"/>
              </a:rPr>
              <a:t>Technology,”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aims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efficient,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cost-effective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solution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challenge.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10">
                <a:latin typeface="Times New Roman"/>
                <a:cs typeface="Times New Roman"/>
              </a:rPr>
              <a:t> sensor-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automatically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materials</a:t>
            </a:r>
            <a:r>
              <a:rPr dirty="0" sz="2000" spc="-25">
                <a:latin typeface="Times New Roman"/>
                <a:cs typeface="Times New Roman"/>
              </a:rPr>
              <a:t> in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systems.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real-time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monitoring,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safety,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supports </a:t>
            </a:r>
            <a:r>
              <a:rPr dirty="0" sz="2000">
                <a:latin typeface="Times New Roman"/>
                <a:cs typeface="Times New Roman"/>
              </a:rPr>
              <a:t>future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upgrades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management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Problem</a:t>
            </a:r>
            <a:r>
              <a:rPr dirty="0" sz="3200" spc="-35"/>
              <a:t> </a:t>
            </a:r>
            <a:r>
              <a:rPr dirty="0" sz="3200"/>
              <a:t>Statement</a:t>
            </a:r>
            <a:r>
              <a:rPr dirty="0" sz="3200" spc="-40"/>
              <a:t> </a:t>
            </a:r>
            <a:r>
              <a:rPr dirty="0" sz="3200"/>
              <a:t>/</a:t>
            </a:r>
            <a:r>
              <a:rPr dirty="0" sz="3200" spc="-25"/>
              <a:t> </a:t>
            </a:r>
            <a:r>
              <a:rPr dirty="0" sz="3200"/>
              <a:t>Scope</a:t>
            </a:r>
            <a:r>
              <a:rPr dirty="0" sz="3200" spc="-10"/>
              <a:t> </a:t>
            </a:r>
            <a:r>
              <a:rPr dirty="0" sz="3200"/>
              <a:t>of</a:t>
            </a:r>
            <a:r>
              <a:rPr dirty="0" sz="3200" spc="-25"/>
              <a:t> </a:t>
            </a:r>
            <a:r>
              <a:rPr dirty="0" sz="3200"/>
              <a:t>the</a:t>
            </a:r>
            <a:r>
              <a:rPr dirty="0" sz="3200" spc="-10"/>
              <a:t> Project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8997695" y="76149"/>
            <a:ext cx="3162300" cy="1186180"/>
            <a:chOff x="8997695" y="76149"/>
            <a:chExt cx="3162300" cy="1186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695" y="76149"/>
              <a:ext cx="3162300" cy="11857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6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16609"/>
            <a:ext cx="10297160" cy="505587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000" b="1">
                <a:latin typeface="Times New Roman"/>
                <a:cs typeface="Times New Roman"/>
              </a:rPr>
              <a:t>Sensor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Integration</a:t>
            </a:r>
            <a:endParaRPr sz="2000">
              <a:latin typeface="Times New Roman"/>
              <a:cs typeface="Times New Roman"/>
            </a:endParaRPr>
          </a:p>
          <a:p>
            <a:pPr marL="251460" indent="-238760">
              <a:lnSpc>
                <a:spcPct val="100000"/>
              </a:lnSpc>
              <a:spcBef>
                <a:spcPts val="240"/>
              </a:spcBef>
              <a:buAutoNum type="alphaLcPeriod"/>
              <a:tabLst>
                <a:tab pos="251460" algn="l"/>
              </a:tabLst>
            </a:pPr>
            <a:r>
              <a:rPr dirty="0" sz="2000">
                <a:latin typeface="Times New Roman"/>
                <a:cs typeface="Times New Roman"/>
              </a:rPr>
              <a:t>Inductive/Metal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Sensors: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metallic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objects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flow.</a:t>
            </a:r>
            <a:endParaRPr sz="20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spcBef>
                <a:spcPts val="240"/>
              </a:spcBef>
              <a:buAutoNum type="alphaL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Ultrasonic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Sensors: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measure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water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flow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levels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blockages.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Processing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Unit</a:t>
            </a:r>
            <a:endParaRPr sz="2000">
              <a:latin typeface="Times New Roman"/>
              <a:cs typeface="Times New Roman"/>
            </a:endParaRPr>
          </a:p>
          <a:p>
            <a:pPr marL="237490" indent="-224790">
              <a:lnSpc>
                <a:spcPct val="100000"/>
              </a:lnSpc>
              <a:spcBef>
                <a:spcPts val="240"/>
              </a:spcBef>
              <a:buAutoNum type="alphaLcPeriod" startAt="3"/>
              <a:tabLst>
                <a:tab pos="23749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microcontroller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(e.g.,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ESP32)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collect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input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signals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sensors.</a:t>
            </a:r>
            <a:endParaRPr sz="200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240"/>
              </a:spcBef>
              <a:buAutoNum type="alphaLcPeriod" startAt="3"/>
              <a:tabLst>
                <a:tab pos="26162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determine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type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present.</a:t>
            </a:r>
            <a:endParaRPr sz="20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240"/>
              </a:spcBef>
              <a:buAutoNum type="alphaLcPeriod" startAt="3"/>
              <a:tabLst>
                <a:tab pos="246379" algn="l"/>
              </a:tabLst>
            </a:pPr>
            <a:r>
              <a:rPr dirty="0" sz="2000">
                <a:latin typeface="Times New Roman"/>
                <a:cs typeface="Times New Roman"/>
              </a:rPr>
              <a:t>Threshold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programmed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wrappers.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240"/>
              </a:spcBef>
            </a:pPr>
            <a:r>
              <a:rPr dirty="0" sz="2000" spc="-55" b="1">
                <a:latin typeface="Times New Roman"/>
                <a:cs typeface="Times New Roman"/>
              </a:rPr>
              <a:t>IoT-</a:t>
            </a:r>
            <a:r>
              <a:rPr dirty="0" sz="2000" b="1">
                <a:latin typeface="Times New Roman"/>
                <a:cs typeface="Times New Roman"/>
              </a:rPr>
              <a:t>Based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Monitoring</a:t>
            </a:r>
            <a:endParaRPr sz="2000">
              <a:latin typeface="Times New Roman"/>
              <a:cs typeface="Times New Roman"/>
            </a:endParaRPr>
          </a:p>
          <a:p>
            <a:pPr marL="222885" indent="-210185">
              <a:lnSpc>
                <a:spcPct val="100000"/>
              </a:lnSpc>
              <a:spcBef>
                <a:spcPts val="240"/>
              </a:spcBef>
              <a:buAutoNum type="alphaLcPeriod" startAt="6"/>
              <a:tabLst>
                <a:tab pos="222885" algn="l"/>
              </a:tabLst>
            </a:pPr>
            <a:r>
              <a:rPr dirty="0" sz="2000">
                <a:latin typeface="Times New Roman"/>
                <a:cs typeface="Times New Roman"/>
              </a:rPr>
              <a:t>Sensor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outputs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connected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IoT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5">
                <a:latin typeface="Times New Roman"/>
                <a:cs typeface="Times New Roman"/>
              </a:rPr>
              <a:t>(Wi-</a:t>
            </a:r>
            <a:r>
              <a:rPr dirty="0" sz="2000" spc="-20">
                <a:latin typeface="Times New Roman"/>
                <a:cs typeface="Times New Roman"/>
              </a:rPr>
              <a:t>Fi).</a:t>
            </a:r>
            <a:endParaRPr sz="2000">
              <a:latin typeface="Times New Roman"/>
              <a:cs typeface="Times New Roman"/>
            </a:endParaRPr>
          </a:p>
          <a:p>
            <a:pPr marL="12700" marR="3114040" indent="254000">
              <a:lnSpc>
                <a:spcPct val="110000"/>
              </a:lnSpc>
              <a:spcBef>
                <a:spcPts val="5"/>
              </a:spcBef>
              <a:buAutoNum type="alphaLcPeriod" startAt="6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transmitted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central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monitoring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mobile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application. </a:t>
            </a:r>
            <a:r>
              <a:rPr dirty="0" sz="2000">
                <a:latin typeface="Times New Roman"/>
                <a:cs typeface="Times New Roman"/>
              </a:rPr>
              <a:t>h.notifications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significant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detected.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latin typeface="Times New Roman"/>
                <a:cs typeface="Times New Roman"/>
              </a:rPr>
              <a:t>System</a:t>
            </a:r>
            <a:r>
              <a:rPr dirty="0" sz="2000" spc="-1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Automation</a:t>
            </a:r>
            <a:endParaRPr sz="2000">
              <a:latin typeface="Times New Roman"/>
              <a:cs typeface="Times New Roman"/>
            </a:endParaRPr>
          </a:p>
          <a:p>
            <a:pPr lvl="1" marL="203200" indent="-190500">
              <a:lnSpc>
                <a:spcPct val="100000"/>
              </a:lnSpc>
              <a:spcBef>
                <a:spcPts val="240"/>
              </a:spcBef>
              <a:buAutoNum type="alphaLcPeriod" startAt="9"/>
              <a:tabLst>
                <a:tab pos="2032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enables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classification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human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intervention.</a:t>
            </a:r>
            <a:endParaRPr sz="2000">
              <a:latin typeface="Times New Roman"/>
              <a:cs typeface="Times New Roman"/>
            </a:endParaRPr>
          </a:p>
          <a:p>
            <a:pPr lvl="1" marL="208279" indent="-195580">
              <a:lnSpc>
                <a:spcPct val="100000"/>
              </a:lnSpc>
              <a:spcBef>
                <a:spcPts val="240"/>
              </a:spcBef>
              <a:buAutoNum type="alphaLcPeriod" startAt="9"/>
              <a:tabLst>
                <a:tab pos="208279" algn="l"/>
              </a:tabLst>
            </a:pP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alerts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 authorities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respond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quickly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before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blockages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occur.</a:t>
            </a:r>
            <a:endParaRPr sz="2000">
              <a:latin typeface="Times New Roman"/>
              <a:cs typeface="Times New Roman"/>
            </a:endParaRPr>
          </a:p>
          <a:p>
            <a:pPr lvl="1" marL="266700" indent="-254000">
              <a:lnSpc>
                <a:spcPct val="100000"/>
              </a:lnSpc>
              <a:spcBef>
                <a:spcPts val="240"/>
              </a:spcBef>
              <a:buAutoNum type="alphaLcPeriod" startAt="9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long-term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analysis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accumulation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trends.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Proposed</a:t>
            </a:r>
            <a:r>
              <a:rPr dirty="0" sz="3200" spc="-50"/>
              <a:t> </a:t>
            </a:r>
            <a:r>
              <a:rPr dirty="0" sz="3200"/>
              <a:t>Idea</a:t>
            </a:r>
            <a:r>
              <a:rPr dirty="0" sz="3200" spc="-30"/>
              <a:t> </a:t>
            </a:r>
            <a:r>
              <a:rPr dirty="0" sz="3200"/>
              <a:t>/</a:t>
            </a:r>
            <a:r>
              <a:rPr dirty="0" sz="3200" spc="-15"/>
              <a:t> </a:t>
            </a:r>
            <a:r>
              <a:rPr dirty="0" sz="3200" spc="-10"/>
              <a:t>Solution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24511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primary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aim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this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project,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“Automated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Material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Identification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Drainage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Systems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Using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Sensor </a:t>
            </a:r>
            <a:r>
              <a:rPr dirty="0" spc="-25" b="0">
                <a:latin typeface="Times New Roman"/>
                <a:cs typeface="Times New Roman"/>
              </a:rPr>
              <a:t>Technology,”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is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develop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smart,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efficient,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reliable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system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that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can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detect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classify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non </a:t>
            </a:r>
            <a:r>
              <a:rPr dirty="0" b="0">
                <a:latin typeface="Times New Roman"/>
                <a:cs typeface="Times New Roman"/>
              </a:rPr>
              <a:t>biodegradable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waste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drainage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systems.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specific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objectives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are:</a:t>
            </a: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dirty="0" spc="-30" b="0">
                <a:latin typeface="Times New Roman"/>
                <a:cs typeface="Times New Roman"/>
              </a:rPr>
              <a:t>To </a:t>
            </a:r>
            <a:r>
              <a:rPr dirty="0" b="0">
                <a:latin typeface="Times New Roman"/>
                <a:cs typeface="Times New Roman"/>
              </a:rPr>
              <a:t>design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implement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sensor-</a:t>
            </a:r>
            <a:r>
              <a:rPr dirty="0" b="0">
                <a:latin typeface="Times New Roman"/>
                <a:cs typeface="Times New Roman"/>
              </a:rPr>
              <a:t>based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system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capable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identifying</a:t>
            </a:r>
            <a:r>
              <a:rPr dirty="0" spc="-6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differentiating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metals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and</a:t>
            </a:r>
          </a:p>
          <a:p>
            <a:pPr marL="469900">
              <a:lnSpc>
                <a:spcPct val="100000"/>
              </a:lnSpc>
            </a:pPr>
            <a:r>
              <a:rPr dirty="0" b="0">
                <a:latin typeface="Times New Roman"/>
                <a:cs typeface="Times New Roman"/>
              </a:rPr>
              <a:t>wrapper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real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time.</a:t>
            </a: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469900" algn="l"/>
              </a:tabLst>
            </a:pPr>
            <a:r>
              <a:rPr dirty="0" spc="-45" b="0">
                <a:latin typeface="Times New Roman"/>
                <a:cs typeface="Times New Roman"/>
              </a:rPr>
              <a:t>To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integrate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sensors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like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(metal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detectors)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with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microcontroller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accurate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material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detection.</a:t>
            </a:r>
          </a:p>
          <a:p>
            <a:pPr marL="469900" marR="1013460" indent="-457834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469900" algn="l"/>
              </a:tabLst>
            </a:pPr>
            <a:r>
              <a:rPr dirty="0" spc="-35" b="0">
                <a:latin typeface="Times New Roman"/>
                <a:cs typeface="Times New Roman"/>
              </a:rPr>
              <a:t>To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establish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spc="-55" b="0">
                <a:latin typeface="Times New Roman"/>
                <a:cs typeface="Times New Roman"/>
              </a:rPr>
              <a:t>IoT-</a:t>
            </a:r>
            <a:r>
              <a:rPr dirty="0" b="0">
                <a:latin typeface="Times New Roman"/>
                <a:cs typeface="Times New Roman"/>
              </a:rPr>
              <a:t>enabled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monitoring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mechanism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transmitting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sensor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data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 </a:t>
            </a:r>
            <a:r>
              <a:rPr dirty="0" spc="-10" b="0">
                <a:latin typeface="Times New Roman"/>
                <a:cs typeface="Times New Roman"/>
              </a:rPr>
              <a:t>mobile application.</a:t>
            </a:r>
          </a:p>
          <a:p>
            <a:pPr marL="469900" indent="-457200">
              <a:lnSpc>
                <a:spcPts val="2360"/>
              </a:lnSpc>
              <a:spcBef>
                <a:spcPts val="480"/>
              </a:spcBef>
              <a:buAutoNum type="arabicPeriod" startAt="2"/>
              <a:tabLst>
                <a:tab pos="469900" algn="l"/>
              </a:tabLst>
            </a:pPr>
            <a:r>
              <a:rPr dirty="0" spc="-30" b="0">
                <a:latin typeface="Times New Roman"/>
                <a:cs typeface="Times New Roman"/>
              </a:rPr>
              <a:t>To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generate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real-</a:t>
            </a:r>
            <a:r>
              <a:rPr dirty="0" b="0">
                <a:latin typeface="Times New Roman"/>
                <a:cs typeface="Times New Roman"/>
              </a:rPr>
              <a:t>time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alerts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that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help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authorities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take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preventive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actions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before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severe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blockages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or</a:t>
            </a:r>
          </a:p>
          <a:p>
            <a:pPr marL="469900">
              <a:lnSpc>
                <a:spcPts val="2840"/>
              </a:lnSpc>
            </a:pPr>
            <a:r>
              <a:rPr dirty="0" b="0">
                <a:latin typeface="Times New Roman"/>
                <a:cs typeface="Times New Roman"/>
              </a:rPr>
              <a:t>flooding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occurs</a:t>
            </a:r>
            <a:r>
              <a:rPr dirty="0" sz="2400" spc="-10" b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900" marR="998855" indent="-457834">
              <a:lnSpc>
                <a:spcPct val="100000"/>
              </a:lnSpc>
              <a:spcBef>
                <a:spcPts val="565"/>
              </a:spcBef>
              <a:buAutoNum type="arabicPeriod" startAt="5"/>
              <a:tabLst>
                <a:tab pos="469900" algn="l"/>
              </a:tabLst>
            </a:pPr>
            <a:r>
              <a:rPr dirty="0" spc="-35" b="0">
                <a:latin typeface="Times New Roman"/>
                <a:cs typeface="Times New Roman"/>
              </a:rPr>
              <a:t>To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minimize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manual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inspection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health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risks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faced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by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sanitation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workers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by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introducing </a:t>
            </a:r>
            <a:r>
              <a:rPr dirty="0" b="0">
                <a:latin typeface="Times New Roman"/>
                <a:cs typeface="Times New Roman"/>
              </a:rPr>
              <a:t>automation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drainage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maintenance.</a:t>
            </a:r>
          </a:p>
          <a:p>
            <a:pPr marL="469900" indent="-457200">
              <a:lnSpc>
                <a:spcPts val="2365"/>
              </a:lnSpc>
              <a:spcBef>
                <a:spcPts val="480"/>
              </a:spcBef>
              <a:buAutoNum type="arabicPeriod" startAt="5"/>
              <a:tabLst>
                <a:tab pos="469900" algn="l"/>
              </a:tabLst>
            </a:pPr>
            <a:r>
              <a:rPr dirty="0" spc="-35" b="0">
                <a:latin typeface="Times New Roman"/>
                <a:cs typeface="Times New Roman"/>
              </a:rPr>
              <a:t>To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provide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low-cost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scalable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solution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that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can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deployed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both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small-</a:t>
            </a:r>
            <a:r>
              <a:rPr dirty="0" b="0">
                <a:latin typeface="Times New Roman"/>
                <a:cs typeface="Times New Roman"/>
              </a:rPr>
              <a:t>scale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large-scale</a:t>
            </a:r>
          </a:p>
          <a:p>
            <a:pPr marL="469900">
              <a:lnSpc>
                <a:spcPts val="2845"/>
              </a:lnSpc>
            </a:pPr>
            <a:r>
              <a:rPr dirty="0" b="0">
                <a:latin typeface="Times New Roman"/>
                <a:cs typeface="Times New Roman"/>
              </a:rPr>
              <a:t>drainage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systems</a:t>
            </a:r>
            <a:r>
              <a:rPr dirty="0" sz="2400" spc="-10" b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Objectives</a:t>
            </a:r>
            <a:r>
              <a:rPr dirty="0" sz="3200" spc="-50"/>
              <a:t> </a:t>
            </a:r>
            <a:r>
              <a:rPr dirty="0" sz="3200"/>
              <a:t>of</a:t>
            </a:r>
            <a:r>
              <a:rPr dirty="0" sz="3200" spc="-30"/>
              <a:t> </a:t>
            </a:r>
            <a:r>
              <a:rPr dirty="0" sz="3200"/>
              <a:t>the</a:t>
            </a:r>
            <a:r>
              <a:rPr dirty="0" sz="3200" spc="-15"/>
              <a:t> </a:t>
            </a:r>
            <a:r>
              <a:rPr dirty="0" sz="3200"/>
              <a:t>Idea</a:t>
            </a:r>
            <a:r>
              <a:rPr dirty="0" sz="3200" spc="-5"/>
              <a:t> </a:t>
            </a:r>
            <a:r>
              <a:rPr dirty="0" sz="3200"/>
              <a:t>/</a:t>
            </a:r>
            <a:r>
              <a:rPr dirty="0" sz="3200" spc="-30"/>
              <a:t> </a:t>
            </a:r>
            <a:r>
              <a:rPr dirty="0" sz="3200"/>
              <a:t>Solution</a:t>
            </a:r>
            <a:r>
              <a:rPr dirty="0" sz="3200" spc="-55"/>
              <a:t> </a:t>
            </a:r>
            <a:r>
              <a:rPr dirty="0" sz="3200"/>
              <a:t>as</a:t>
            </a:r>
            <a:r>
              <a:rPr dirty="0" sz="3200" spc="-15"/>
              <a:t> </a:t>
            </a:r>
            <a:r>
              <a:rPr dirty="0" sz="3200"/>
              <a:t>Design</a:t>
            </a:r>
            <a:r>
              <a:rPr dirty="0" sz="3200" spc="-35"/>
              <a:t> </a:t>
            </a:r>
            <a:r>
              <a:rPr dirty="0" sz="3200" spc="-10"/>
              <a:t>Project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8997695" y="76149"/>
            <a:ext cx="3162300" cy="1186180"/>
            <a:chOff x="8997695" y="76149"/>
            <a:chExt cx="3162300" cy="1186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695" y="76149"/>
              <a:ext cx="3162300" cy="11857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6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26668"/>
            <a:ext cx="10152380" cy="4897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835"/>
              </a:lnSpc>
              <a:spcBef>
                <a:spcPts val="105"/>
              </a:spcBef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methodology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project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“Automated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Material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Identification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Drainage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Systems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Technology”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ts val="1835"/>
              </a:lnSpc>
            </a:pPr>
            <a:r>
              <a:rPr dirty="0" sz="1700">
                <a:latin typeface="Times New Roman"/>
                <a:cs typeface="Times New Roman"/>
              </a:rPr>
              <a:t>follows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structured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approach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design,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development,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testing: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1: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Problem</a:t>
            </a:r>
            <a:r>
              <a:rPr dirty="0" sz="1700" spc="-10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Analysis</a:t>
            </a:r>
            <a:r>
              <a:rPr dirty="0" sz="1700" spc="-3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&amp;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Requirement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Gathering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Study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existing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challenges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drainage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waste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management.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Identify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types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materials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(metal)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most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commonly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responsible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blockages.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Define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system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requirements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such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types,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power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needs,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communication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methods,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handling.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2:</a:t>
            </a:r>
            <a:r>
              <a:rPr dirty="0" sz="1700" spc="-1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System</a:t>
            </a:r>
            <a:r>
              <a:rPr dirty="0" sz="1700" spc="-4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Design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Develop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block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diagram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showing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flow: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→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ESP-</a:t>
            </a:r>
            <a:r>
              <a:rPr dirty="0" sz="1700">
                <a:latin typeface="Times New Roman"/>
                <a:cs typeface="Times New Roman"/>
              </a:rPr>
              <a:t>32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→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IoT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Module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→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Monitoring </a:t>
            </a:r>
            <a:r>
              <a:rPr dirty="0" sz="1700" spc="-10">
                <a:latin typeface="Times New Roman"/>
                <a:cs typeface="Times New Roman"/>
              </a:rPr>
              <a:t>System.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Select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appropriate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components: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Inductive/metal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sensors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metals.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ESP32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microcontroller.</a:t>
            </a:r>
            <a:endParaRPr sz="1700">
              <a:latin typeface="Times New Roman"/>
              <a:cs typeface="Times New Roman"/>
            </a:endParaRPr>
          </a:p>
          <a:p>
            <a:pPr marL="138430" indent="-125730">
              <a:lnSpc>
                <a:spcPct val="100000"/>
              </a:lnSpc>
              <a:buChar char="•"/>
              <a:tabLst>
                <a:tab pos="138430" algn="l"/>
              </a:tabLst>
            </a:pPr>
            <a:r>
              <a:rPr dirty="0" sz="1700" spc="-35">
                <a:latin typeface="Times New Roman"/>
                <a:cs typeface="Times New Roman"/>
              </a:rPr>
              <a:t>Wi-</a:t>
            </a:r>
            <a:r>
              <a:rPr dirty="0" sz="1700">
                <a:latin typeface="Times New Roman"/>
                <a:cs typeface="Times New Roman"/>
              </a:rPr>
              <a:t>Fi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modules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IoT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connectivity.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3:</a:t>
            </a:r>
            <a:r>
              <a:rPr dirty="0" sz="1700" spc="-3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Hardware</a:t>
            </a:r>
            <a:r>
              <a:rPr dirty="0" sz="1700" spc="-6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Development</a:t>
            </a:r>
            <a:endParaRPr sz="1700">
              <a:latin typeface="Times New Roman"/>
              <a:cs typeface="Times New Roman"/>
            </a:endParaRPr>
          </a:p>
          <a:p>
            <a:pPr marL="130810" indent="-118110">
              <a:lnSpc>
                <a:spcPct val="100000"/>
              </a:lnSpc>
              <a:buChar char="•"/>
              <a:tabLst>
                <a:tab pos="130810" algn="l"/>
              </a:tabLst>
            </a:pPr>
            <a:r>
              <a:rPr dirty="0" sz="1700">
                <a:latin typeface="Times New Roman"/>
                <a:cs typeface="Times New Roman"/>
              </a:rPr>
              <a:t>Assemble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microcontroller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into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prototype.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Calibrate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accurate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under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drainage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conditions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(wet,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dark,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turbid</a:t>
            </a:r>
            <a:r>
              <a:rPr dirty="0" sz="1700" spc="-10">
                <a:latin typeface="Times New Roman"/>
                <a:cs typeface="Times New Roman"/>
              </a:rPr>
              <a:t> environment).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Ensure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waterproofing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protective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casing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electronics.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4:</a:t>
            </a:r>
            <a:r>
              <a:rPr dirty="0" sz="1700" spc="-3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Software</a:t>
            </a:r>
            <a:r>
              <a:rPr dirty="0" sz="1700" spc="-5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Development</a:t>
            </a:r>
            <a:endParaRPr sz="1700">
              <a:latin typeface="Times New Roman"/>
              <a:cs typeface="Times New Roman"/>
            </a:endParaRPr>
          </a:p>
          <a:p>
            <a:pPr marL="138430" indent="-125730">
              <a:lnSpc>
                <a:spcPct val="100000"/>
              </a:lnSpc>
              <a:buChar char="•"/>
              <a:tabLst>
                <a:tab pos="138430" algn="l"/>
              </a:tabLst>
            </a:pPr>
            <a:r>
              <a:rPr dirty="0" sz="1700" spc="-10">
                <a:latin typeface="Times New Roman"/>
                <a:cs typeface="Times New Roman"/>
              </a:rPr>
              <a:t>Write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microcontroller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code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collect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process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data.</a:t>
            </a:r>
            <a:endParaRPr sz="17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spcBef>
                <a:spcPts val="5"/>
              </a:spcBef>
              <a:buChar char="•"/>
              <a:tabLst>
                <a:tab pos="141605" algn="l"/>
              </a:tabLst>
            </a:pPr>
            <a:r>
              <a:rPr dirty="0" sz="1700">
                <a:latin typeface="Times New Roman"/>
                <a:cs typeface="Times New Roman"/>
              </a:rPr>
              <a:t>Program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logic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classify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waste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material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(metal).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Proposed</a:t>
            </a:r>
            <a:r>
              <a:rPr dirty="0" sz="3200" spc="-100"/>
              <a:t> </a:t>
            </a:r>
            <a:r>
              <a:rPr dirty="0" sz="3200"/>
              <a:t>Research</a:t>
            </a:r>
            <a:r>
              <a:rPr dirty="0" sz="3200" spc="-100"/>
              <a:t> </a:t>
            </a:r>
            <a:r>
              <a:rPr dirty="0" sz="3200"/>
              <a:t>/</a:t>
            </a:r>
            <a:r>
              <a:rPr dirty="0" sz="3200" spc="-70"/>
              <a:t> </a:t>
            </a:r>
            <a:r>
              <a:rPr dirty="0" sz="3200" spc="-10"/>
              <a:t>Methodology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8997695" y="76149"/>
            <a:ext cx="3162300" cy="1186180"/>
            <a:chOff x="8997695" y="76149"/>
            <a:chExt cx="3162300" cy="1186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695" y="76149"/>
              <a:ext cx="3162300" cy="11857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6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356717" y="226313"/>
            <a:ext cx="10229215" cy="611568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2100" b="1">
                <a:latin typeface="Times New Roman"/>
                <a:cs typeface="Times New Roman"/>
              </a:rPr>
              <a:t>5:</a:t>
            </a:r>
            <a:r>
              <a:rPr dirty="0" sz="2100" spc="-2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IoT</a:t>
            </a:r>
            <a:r>
              <a:rPr dirty="0" sz="2100" spc="-6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Dashboard</a:t>
            </a:r>
            <a:r>
              <a:rPr dirty="0" sz="2100" spc="-4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/</a:t>
            </a:r>
            <a:r>
              <a:rPr dirty="0" sz="2100" spc="-13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Alert</a:t>
            </a:r>
            <a:r>
              <a:rPr dirty="0" sz="2100" spc="-15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System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254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Develop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central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monitoring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dashboard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(mobile/PC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application).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250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Display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real-</a:t>
            </a:r>
            <a:r>
              <a:rPr dirty="0" sz="2100">
                <a:latin typeface="Times New Roman"/>
                <a:cs typeface="Times New Roman"/>
              </a:rPr>
              <a:t>time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data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such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as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material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type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detected,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sensor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status.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ts val="2395"/>
              </a:lnSpc>
              <a:spcBef>
                <a:spcPts val="250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Send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alerts/notifications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authorities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when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abnormal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waste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accumulation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or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blockage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risk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is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</a:pPr>
            <a:r>
              <a:rPr dirty="0" sz="2100" spc="-10">
                <a:latin typeface="Times New Roman"/>
                <a:cs typeface="Times New Roman"/>
              </a:rPr>
              <a:t>detected.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100" b="1">
                <a:latin typeface="Times New Roman"/>
                <a:cs typeface="Times New Roman"/>
              </a:rPr>
              <a:t>6:</a:t>
            </a:r>
            <a:r>
              <a:rPr dirty="0" sz="2100" spc="-80" b="1">
                <a:latin typeface="Times New Roman"/>
                <a:cs typeface="Times New Roman"/>
              </a:rPr>
              <a:t> </a:t>
            </a:r>
            <a:r>
              <a:rPr dirty="0" sz="2100" spc="-20" b="1">
                <a:latin typeface="Times New Roman"/>
                <a:cs typeface="Times New Roman"/>
              </a:rPr>
              <a:t>Testing</a:t>
            </a:r>
            <a:r>
              <a:rPr dirty="0" sz="2100" spc="-3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&amp;</a:t>
            </a:r>
            <a:r>
              <a:rPr dirty="0" sz="2100" spc="-65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Validation</a:t>
            </a:r>
            <a:endParaRPr sz="210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250"/>
              </a:spcBef>
              <a:buChar char="•"/>
              <a:tabLst>
                <a:tab pos="167640" algn="l"/>
              </a:tabLst>
            </a:pPr>
            <a:r>
              <a:rPr dirty="0" sz="2100" spc="-20">
                <a:latin typeface="Times New Roman"/>
                <a:cs typeface="Times New Roman"/>
              </a:rPr>
              <a:t>Test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controlled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environment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(simulated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drainage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setup).</a:t>
            </a:r>
            <a:endParaRPr sz="210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250"/>
              </a:spcBef>
              <a:buChar char="•"/>
              <a:tabLst>
                <a:tab pos="167640" algn="l"/>
              </a:tabLst>
            </a:pPr>
            <a:r>
              <a:rPr dirty="0" sz="2100" spc="-30">
                <a:latin typeface="Times New Roman"/>
                <a:cs typeface="Times New Roman"/>
              </a:rPr>
              <a:t>Verify</a:t>
            </a:r>
            <a:r>
              <a:rPr dirty="0" sz="2100" spc="-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detection</a:t>
            </a:r>
            <a:r>
              <a:rPr dirty="0" sz="2100" spc="-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accuracy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different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materials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(metals).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254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Check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real-</a:t>
            </a:r>
            <a:r>
              <a:rPr dirty="0" sz="2100">
                <a:latin typeface="Times New Roman"/>
                <a:cs typeface="Times New Roman"/>
              </a:rPr>
              <a:t>time data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transmission,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response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time,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reliability.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100" spc="-10" b="1">
                <a:latin typeface="Times New Roman"/>
                <a:cs typeface="Times New Roman"/>
              </a:rPr>
              <a:t>7:</a:t>
            </a:r>
            <a:r>
              <a:rPr dirty="0" sz="2100" spc="-12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Analysis</a:t>
            </a:r>
            <a:r>
              <a:rPr dirty="0" sz="2100" spc="-4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&amp;</a:t>
            </a:r>
            <a:r>
              <a:rPr dirty="0" sz="2100" spc="-15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Optimization</a:t>
            </a:r>
            <a:endParaRPr sz="2100">
              <a:latin typeface="Times New Roman"/>
              <a:cs typeface="Times New Roman"/>
            </a:endParaRPr>
          </a:p>
          <a:p>
            <a:pPr marL="158115" indent="-145415">
              <a:lnSpc>
                <a:spcPct val="100000"/>
              </a:lnSpc>
              <a:spcBef>
                <a:spcPts val="250"/>
              </a:spcBef>
              <a:buChar char="•"/>
              <a:tabLst>
                <a:tab pos="158115" algn="l"/>
              </a:tabLst>
            </a:pPr>
            <a:r>
              <a:rPr dirty="0" sz="2100">
                <a:latin typeface="Times New Roman"/>
                <a:cs typeface="Times New Roman"/>
              </a:rPr>
              <a:t>Analyze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test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results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evaluate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accuracy,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efficiency,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limitations.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250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Optimize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sensor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placement,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calibration,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coding</a:t>
            </a:r>
            <a:r>
              <a:rPr dirty="0" sz="2100" spc="-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improved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performance.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254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Document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strengths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weaknesses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future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improvements.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100" b="1">
                <a:latin typeface="Times New Roman"/>
                <a:cs typeface="Times New Roman"/>
              </a:rPr>
              <a:t>8:</a:t>
            </a:r>
            <a:r>
              <a:rPr dirty="0" sz="2100" spc="-4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Final</a:t>
            </a:r>
            <a:r>
              <a:rPr dirty="0" sz="2100" spc="-3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Deployment</a:t>
            </a:r>
            <a:r>
              <a:rPr dirty="0" sz="2100" spc="-5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&amp;</a:t>
            </a:r>
            <a:r>
              <a:rPr dirty="0" sz="2100" spc="-35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Reporting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250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Demonstrate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prototype</a:t>
            </a:r>
            <a:r>
              <a:rPr dirty="0" sz="2100" spc="-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functionality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real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or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simulated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drainage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conditions.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254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Prepare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detailed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project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documentation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including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objectives,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design,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results,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future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scope.</a:t>
            </a:r>
            <a:endParaRPr sz="2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254"/>
              </a:spcBef>
              <a:buChar char="•"/>
              <a:tabLst>
                <a:tab pos="172085" algn="l"/>
              </a:tabLst>
            </a:pPr>
            <a:r>
              <a:rPr dirty="0" sz="2100">
                <a:latin typeface="Times New Roman"/>
                <a:cs typeface="Times New Roman"/>
              </a:rPr>
              <a:t>Provide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recommendations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large-</a:t>
            </a:r>
            <a:r>
              <a:rPr dirty="0" sz="2100">
                <a:latin typeface="Times New Roman"/>
                <a:cs typeface="Times New Roman"/>
              </a:rPr>
              <a:t>scale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deployment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municipal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drainage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systems</a:t>
            </a:r>
            <a:r>
              <a:rPr dirty="0" sz="3200" spc="-1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205" y="1024859"/>
            <a:ext cx="8140700" cy="228346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Microcontroller: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ESP32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processing).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8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Inductive/Metal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detector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</a:t>
            </a:r>
            <a:r>
              <a:rPr dirty="0" sz="2000" spc="-10">
                <a:latin typeface="Times New Roman"/>
                <a:cs typeface="Times New Roman"/>
              </a:rPr>
              <a:t> identification.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84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IoT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Connectivity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Modules: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40">
                <a:latin typeface="Times New Roman"/>
                <a:cs typeface="Times New Roman"/>
              </a:rPr>
              <a:t>Wi-</a:t>
            </a:r>
            <a:r>
              <a:rPr dirty="0" sz="2000">
                <a:latin typeface="Times New Roman"/>
                <a:cs typeface="Times New Roman"/>
              </a:rPr>
              <a:t>Fi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(ESP32)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10">
                <a:latin typeface="Times New Roman"/>
                <a:cs typeface="Times New Roman"/>
              </a:rPr>
              <a:t> transmission.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8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Power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Supply: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Rechargeable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battery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DC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adapter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waterproof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casing.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8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Prototype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Simulated drainage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pipeline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controlled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10">
                <a:latin typeface="Times New Roman"/>
                <a:cs typeface="Times New Roman"/>
              </a:rPr>
              <a:t> insertion.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0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Supporting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Components: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Jumper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wires,waterproof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casing,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indicators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2862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Hardware</a:t>
            </a:r>
            <a:r>
              <a:rPr dirty="0" sz="3200" spc="-90"/>
              <a:t> </a:t>
            </a:r>
            <a:r>
              <a:rPr dirty="0" sz="3200" spc="-10"/>
              <a:t>Requirements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205" y="1024859"/>
            <a:ext cx="8917940" cy="18542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Programming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Environment: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8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C++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(for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logic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testing).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84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IoT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Platforms: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8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Dashboard/GUI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Tools: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MIT</a:t>
            </a:r>
            <a:r>
              <a:rPr dirty="0" sz="2000" spc="-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Inventor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Node-</a:t>
            </a:r>
            <a:r>
              <a:rPr dirty="0" sz="2000">
                <a:latin typeface="Times New Roman"/>
                <a:cs typeface="Times New Roman"/>
              </a:rPr>
              <a:t>RED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55">
                <a:latin typeface="Times New Roman"/>
                <a:cs typeface="Times New Roman"/>
              </a:rPr>
              <a:t>Web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visualization.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8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Simulation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Tools: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Proteus,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Tinker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cad,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40">
                <a:latin typeface="Times New Roman"/>
                <a:cs typeface="Times New Roman"/>
              </a:rPr>
              <a:t>MATLAB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(optional,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simulation).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Software</a:t>
            </a:r>
            <a:r>
              <a:rPr dirty="0" sz="3200" spc="-120"/>
              <a:t> </a:t>
            </a:r>
            <a:r>
              <a:rPr dirty="0" sz="3200" spc="-10"/>
              <a:t>Requirements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Process</a:t>
            </a:r>
            <a:r>
              <a:rPr dirty="0" sz="3200" spc="-60"/>
              <a:t> </a:t>
            </a:r>
            <a:r>
              <a:rPr dirty="0" sz="3200"/>
              <a:t>/</a:t>
            </a:r>
            <a:r>
              <a:rPr dirty="0" sz="3200" spc="-40"/>
              <a:t> </a:t>
            </a:r>
            <a:r>
              <a:rPr dirty="0" sz="3200"/>
              <a:t>Flow</a:t>
            </a:r>
            <a:r>
              <a:rPr dirty="0" sz="3200" spc="-65"/>
              <a:t> </a:t>
            </a:r>
            <a:r>
              <a:rPr dirty="0" sz="3200"/>
              <a:t>/</a:t>
            </a:r>
            <a:r>
              <a:rPr dirty="0" sz="3200" spc="-55"/>
              <a:t> </a:t>
            </a:r>
            <a:r>
              <a:rPr dirty="0" sz="3200"/>
              <a:t>Design</a:t>
            </a:r>
            <a:r>
              <a:rPr dirty="0" sz="3200" spc="-50"/>
              <a:t> </a:t>
            </a:r>
            <a:r>
              <a:rPr dirty="0" sz="3200" spc="-10"/>
              <a:t>Diagram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4422" y="1238722"/>
            <a:ext cx="4772642" cy="509442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205" y="1024823"/>
            <a:ext cx="7886700" cy="505523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203200" indent="-193675">
              <a:lnSpc>
                <a:spcPct val="100000"/>
              </a:lnSpc>
              <a:spcBef>
                <a:spcPts val="335"/>
              </a:spcBef>
              <a:buSzPct val="95000"/>
              <a:buFont typeface="Times New Roman"/>
              <a:buAutoNum type="arabicPeriod"/>
              <a:tabLst>
                <a:tab pos="203200" algn="l"/>
              </a:tabLst>
            </a:pPr>
            <a:r>
              <a:rPr dirty="0" sz="2000" b="1">
                <a:latin typeface="Times New Roman"/>
                <a:cs typeface="Times New Roman"/>
              </a:rPr>
              <a:t>Sensor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Module</a:t>
            </a:r>
            <a:endParaRPr sz="2000">
              <a:latin typeface="Times New Roman"/>
              <a:cs typeface="Times New Roman"/>
            </a:endParaRPr>
          </a:p>
          <a:p>
            <a:pPr lvl="1" marL="165100" indent="-152400">
              <a:lnSpc>
                <a:spcPct val="1000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Inductive/Metal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Identifies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metallic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materials.</a:t>
            </a:r>
            <a:endParaRPr sz="2000">
              <a:latin typeface="Times New Roman"/>
              <a:cs typeface="Times New Roman"/>
            </a:endParaRPr>
          </a:p>
          <a:p>
            <a:pPr lvl="1" marL="165100" indent="-152400">
              <a:lnSpc>
                <a:spcPct val="100000"/>
              </a:lnSpc>
              <a:spcBef>
                <a:spcPts val="244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Ensures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collection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latin typeface="Times New Roman"/>
                <a:cs typeface="Times New Roman"/>
              </a:rPr>
              <a:t>2.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Processing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Module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(ESP32)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receive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signals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sensors.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Executes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logic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differentiate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metals </a:t>
            </a:r>
            <a:r>
              <a:rPr dirty="0" sz="2000" spc="-5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Performs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calibration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filtering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accuracy.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latin typeface="Times New Roman"/>
                <a:cs typeface="Times New Roman"/>
              </a:rPr>
              <a:t>3.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Communication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Module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(IoT)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Integrates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Wi-</a:t>
            </a:r>
            <a:r>
              <a:rPr dirty="0" sz="2000">
                <a:latin typeface="Times New Roman"/>
                <a:cs typeface="Times New Roman"/>
              </a:rPr>
              <a:t>Fi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(ESP32)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Sends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 a central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(dashboard/app).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latin typeface="Times New Roman"/>
                <a:cs typeface="Times New Roman"/>
              </a:rPr>
              <a:t>4.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Monitoring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</a:t>
            </a:r>
            <a:r>
              <a:rPr dirty="0" sz="2000" spc="-1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Alert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Module</a:t>
            </a:r>
            <a:endParaRPr sz="2000">
              <a:latin typeface="Times New Roman"/>
              <a:cs typeface="Times New Roman"/>
            </a:endParaRPr>
          </a:p>
          <a:p>
            <a:pPr marL="151130" indent="-138430">
              <a:lnSpc>
                <a:spcPct val="100000"/>
              </a:lnSpc>
              <a:spcBef>
                <a:spcPts val="244"/>
              </a:spcBef>
              <a:buChar char="•"/>
              <a:tabLst>
                <a:tab pos="15113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dashboard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mobile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displays:</a:t>
            </a:r>
            <a:endParaRPr sz="20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240"/>
              </a:spcBef>
            </a:pPr>
            <a:r>
              <a:rPr dirty="0" sz="2000" spc="-20">
                <a:latin typeface="Times New Roman"/>
                <a:cs typeface="Times New Roman"/>
              </a:rPr>
              <a:t>Type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detected.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Generates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alerts/notifications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abnormal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detected.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Local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prototype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alert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(LED)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indicate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blockage.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Proposed</a:t>
            </a:r>
            <a:r>
              <a:rPr dirty="0" sz="3200" spc="-90"/>
              <a:t> </a:t>
            </a:r>
            <a:r>
              <a:rPr dirty="0" sz="3200" spc="-10"/>
              <a:t>Modules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9070392" y="112080"/>
            <a:ext cx="3053715" cy="1114425"/>
            <a:chOff x="9070392" y="112080"/>
            <a:chExt cx="3053715" cy="1114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92" y="112080"/>
              <a:ext cx="3053255" cy="11138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7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205" y="1084833"/>
            <a:ext cx="9836150" cy="2282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 marR="59690" indent="-457834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2000">
                <a:latin typeface="Times New Roman"/>
                <a:cs typeface="Times New Roman"/>
              </a:rPr>
              <a:t>Unlike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levels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blockages,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this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introduces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multi-</a:t>
            </a:r>
            <a:r>
              <a:rPr dirty="0" sz="2000" b="1">
                <a:latin typeface="Times New Roman"/>
                <a:cs typeface="Times New Roman"/>
              </a:rPr>
              <a:t>sensor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spc="-55" b="1">
                <a:latin typeface="Times New Roman"/>
                <a:cs typeface="Times New Roman"/>
              </a:rPr>
              <a:t>IoT-</a:t>
            </a:r>
            <a:r>
              <a:rPr dirty="0" sz="2000" b="1">
                <a:latin typeface="Times New Roman"/>
                <a:cs typeface="Times New Roman"/>
              </a:rPr>
              <a:t>based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approach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identify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metallic,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and </a:t>
            </a:r>
            <a:r>
              <a:rPr dirty="0" sz="2000" b="1">
                <a:latin typeface="Times New Roman"/>
                <a:cs typeface="Times New Roman"/>
              </a:rPr>
              <a:t>wrappers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waste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469900" marR="172085" indent="-45783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emphasizes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low-</a:t>
            </a:r>
            <a:r>
              <a:rPr dirty="0" sz="2000" b="1">
                <a:latin typeface="Times New Roman"/>
                <a:cs typeface="Times New Roman"/>
              </a:rPr>
              <a:t>cost,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energy-efficient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design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ESP32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25">
                <a:latin typeface="Times New Roman"/>
                <a:cs typeface="Times New Roman"/>
              </a:rPr>
              <a:t> for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alerts.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Times New Roman"/>
                <a:cs typeface="Times New Roman"/>
              </a:rPr>
              <a:t>Incorporates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sensor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fusion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with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decision-</a:t>
            </a:r>
            <a:r>
              <a:rPr dirty="0" sz="2000" b="1">
                <a:latin typeface="Times New Roman"/>
                <a:cs typeface="Times New Roman"/>
              </a:rPr>
              <a:t>support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capability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enabling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both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early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blockage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waste-</a:t>
            </a:r>
            <a:r>
              <a:rPr dirty="0" sz="2000" b="1">
                <a:latin typeface="Times New Roman"/>
                <a:cs typeface="Times New Roman"/>
              </a:rPr>
              <a:t>type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classification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rarely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addressed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work.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Novelty</a:t>
            </a:r>
            <a:r>
              <a:rPr dirty="0" sz="3200" spc="-50"/>
              <a:t> </a:t>
            </a:r>
            <a:r>
              <a:rPr dirty="0" sz="3200"/>
              <a:t>of</a:t>
            </a:r>
            <a:r>
              <a:rPr dirty="0" sz="3200" spc="-5"/>
              <a:t> </a:t>
            </a:r>
            <a:r>
              <a:rPr dirty="0" sz="3200"/>
              <a:t>the</a:t>
            </a:r>
            <a:r>
              <a:rPr dirty="0" sz="3200" spc="-15"/>
              <a:t> </a:t>
            </a:r>
            <a:r>
              <a:rPr dirty="0" sz="3200"/>
              <a:t>Proposed</a:t>
            </a:r>
            <a:r>
              <a:rPr dirty="0" sz="3200" spc="-50"/>
              <a:t> </a:t>
            </a:r>
            <a:r>
              <a:rPr dirty="0" sz="3200"/>
              <a:t>Idea</a:t>
            </a:r>
            <a:r>
              <a:rPr dirty="0" sz="3200" spc="-5"/>
              <a:t> </a:t>
            </a:r>
            <a:r>
              <a:rPr dirty="0" sz="3200"/>
              <a:t>/</a:t>
            </a:r>
            <a:r>
              <a:rPr dirty="0" sz="3200" spc="-5"/>
              <a:t> </a:t>
            </a:r>
            <a:r>
              <a:rPr dirty="0" sz="3200" spc="-10"/>
              <a:t>Project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8997695" y="76149"/>
            <a:ext cx="3162300" cy="1186180"/>
            <a:chOff x="8997695" y="76149"/>
            <a:chExt cx="3162300" cy="1186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695" y="76149"/>
              <a:ext cx="3162300" cy="11857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6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99745" rIns="0" bIns="0" rtlCol="0" vert="horz">
            <a:spAutoFit/>
          </a:bodyPr>
          <a:lstStyle/>
          <a:p>
            <a:pPr marL="203835" indent="-193675">
              <a:lnSpc>
                <a:spcPts val="2160"/>
              </a:lnSpc>
              <a:spcBef>
                <a:spcPts val="105"/>
              </a:spcBef>
              <a:buSzPct val="95000"/>
              <a:buFont typeface="Times New Roman"/>
              <a:buAutoNum type="arabicPeriod"/>
              <a:tabLst>
                <a:tab pos="203835" algn="l"/>
              </a:tabLst>
            </a:pPr>
            <a:r>
              <a:rPr dirty="0" spc="-30"/>
              <a:t>Target</a:t>
            </a:r>
            <a:r>
              <a:rPr dirty="0" spc="-85"/>
              <a:t> </a:t>
            </a:r>
            <a:r>
              <a:rPr dirty="0" spc="-10"/>
              <a:t>Waste:</a:t>
            </a:r>
          </a:p>
          <a:p>
            <a:pPr marL="12700">
              <a:lnSpc>
                <a:spcPts val="1920"/>
              </a:lnSpc>
            </a:pPr>
            <a:r>
              <a:rPr dirty="0" spc="-10" b="0">
                <a:latin typeface="Times New Roman"/>
                <a:cs typeface="Times New Roman"/>
              </a:rPr>
              <a:t>Single-</a:t>
            </a:r>
            <a:r>
              <a:rPr dirty="0" b="0">
                <a:latin typeface="Times New Roman"/>
                <a:cs typeface="Times New Roman"/>
              </a:rPr>
              <a:t>use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flexible</a:t>
            </a:r>
            <a:r>
              <a:rPr dirty="0" spc="4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waste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such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as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snack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wrappers,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confectionery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packaging,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mixed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materials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(e.g.,</a:t>
            </a:r>
          </a:p>
          <a:p>
            <a:pPr marL="12700">
              <a:lnSpc>
                <a:spcPts val="2160"/>
              </a:lnSpc>
            </a:pPr>
            <a:r>
              <a:rPr dirty="0" b="0">
                <a:latin typeface="Times New Roman"/>
                <a:cs typeface="Times New Roman"/>
              </a:rPr>
              <a:t>thin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aluminum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layers)..</a:t>
            </a:r>
          </a:p>
          <a:p>
            <a:pPr marL="203835" indent="-193675">
              <a:lnSpc>
                <a:spcPts val="2160"/>
              </a:lnSpc>
              <a:buSzPct val="95000"/>
              <a:buAutoNum type="arabicPeriod" startAt="2"/>
              <a:tabLst>
                <a:tab pos="203835" algn="l"/>
              </a:tabLst>
            </a:pPr>
            <a:r>
              <a:rPr dirty="0"/>
              <a:t>Sensor</a:t>
            </a:r>
            <a:r>
              <a:rPr dirty="0" spc="-75"/>
              <a:t> </a:t>
            </a:r>
            <a:r>
              <a:rPr dirty="0"/>
              <a:t>Integration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Setup:</a:t>
            </a:r>
          </a:p>
          <a:p>
            <a:pPr marL="12700" marR="521334">
              <a:lnSpc>
                <a:spcPts val="1920"/>
              </a:lnSpc>
              <a:spcBef>
                <a:spcPts val="220"/>
              </a:spcBef>
            </a:pPr>
            <a:r>
              <a:rPr dirty="0" b="0">
                <a:latin typeface="Times New Roman"/>
                <a:cs typeface="Times New Roman"/>
              </a:rPr>
              <a:t>Core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Components</a:t>
            </a:r>
            <a:r>
              <a:rPr dirty="0"/>
              <a:t>:</a:t>
            </a:r>
            <a:r>
              <a:rPr dirty="0" spc="-45"/>
              <a:t> </a:t>
            </a:r>
            <a:r>
              <a:rPr dirty="0" b="0">
                <a:latin typeface="Times New Roman"/>
                <a:cs typeface="Times New Roman"/>
              </a:rPr>
              <a:t>Deploy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specialized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sensor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capable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identifying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metal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wrappers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materials, </a:t>
            </a:r>
            <a:r>
              <a:rPr dirty="0" b="0">
                <a:latin typeface="Times New Roman"/>
                <a:cs typeface="Times New Roman"/>
              </a:rPr>
              <a:t>interfaced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with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platform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(VS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code).</a:t>
            </a:r>
          </a:p>
          <a:p>
            <a:pPr marL="12700">
              <a:lnSpc>
                <a:spcPts val="2160"/>
              </a:lnSpc>
              <a:spcBef>
                <a:spcPts val="20"/>
              </a:spcBef>
            </a:pPr>
            <a:r>
              <a:rPr dirty="0" b="0">
                <a:latin typeface="Times New Roman"/>
                <a:cs typeface="Times New Roman"/>
              </a:rPr>
              <a:t>Sensor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Polling: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controller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runs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continuous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monitoring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routine,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periodically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reading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sensor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values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to</a:t>
            </a:r>
          </a:p>
          <a:p>
            <a:pPr marL="12700">
              <a:lnSpc>
                <a:spcPts val="2160"/>
              </a:lnSpc>
            </a:pPr>
            <a:r>
              <a:rPr dirty="0" b="0">
                <a:latin typeface="Times New Roman"/>
                <a:cs typeface="Times New Roman"/>
              </a:rPr>
              <a:t>maintain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active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detection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at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sensing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zone.</a:t>
            </a:r>
          </a:p>
          <a:p>
            <a:pPr marL="266065" indent="-253365">
              <a:lnSpc>
                <a:spcPts val="2160"/>
              </a:lnSpc>
              <a:buSzPct val="95000"/>
              <a:buAutoNum type="arabicPeriod" startAt="3"/>
              <a:tabLst>
                <a:tab pos="266065" algn="l"/>
              </a:tabLst>
            </a:pPr>
            <a:r>
              <a:rPr dirty="0"/>
              <a:t>Detection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Signal</a:t>
            </a:r>
            <a:r>
              <a:rPr dirty="0" spc="-40"/>
              <a:t> </a:t>
            </a:r>
            <a:r>
              <a:rPr dirty="0" spc="-10"/>
              <a:t>Generation:</a:t>
            </a:r>
          </a:p>
          <a:p>
            <a:pPr marL="12700" marR="5080">
              <a:lnSpc>
                <a:spcPct val="80000"/>
              </a:lnSpc>
              <a:spcBef>
                <a:spcPts val="240"/>
              </a:spcBef>
            </a:pPr>
            <a:r>
              <a:rPr dirty="0" b="0">
                <a:latin typeface="Times New Roman"/>
                <a:cs typeface="Times New Roman"/>
              </a:rPr>
              <a:t>Trigger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Event</a:t>
            </a:r>
            <a:r>
              <a:rPr dirty="0"/>
              <a:t>:</a:t>
            </a:r>
            <a:r>
              <a:rPr dirty="0" spc="-75"/>
              <a:t> </a:t>
            </a:r>
            <a:r>
              <a:rPr dirty="0" b="0">
                <a:latin typeface="Times New Roman"/>
                <a:cs typeface="Times New Roman"/>
              </a:rPr>
              <a:t>When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flexible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metal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wrappers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item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(e.g.,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snack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wrapper,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thin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film)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moves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across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the </a:t>
            </a:r>
            <a:r>
              <a:rPr dirty="0" b="0">
                <a:latin typeface="Times New Roman"/>
                <a:cs typeface="Times New Roman"/>
              </a:rPr>
              <a:t>sensing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region,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activates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detection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mechanism.</a:t>
            </a:r>
          </a:p>
          <a:p>
            <a:pPr marL="12700" marR="836930">
              <a:lnSpc>
                <a:spcPct val="80000"/>
              </a:lnSpc>
              <a:spcBef>
                <a:spcPts val="480"/>
              </a:spcBef>
            </a:pPr>
            <a:r>
              <a:rPr dirty="0" b="0">
                <a:latin typeface="Times New Roman"/>
                <a:cs typeface="Times New Roman"/>
              </a:rPr>
              <a:t>Signal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Output</a:t>
            </a:r>
            <a:r>
              <a:rPr dirty="0"/>
              <a:t>:</a:t>
            </a:r>
            <a:r>
              <a:rPr dirty="0" spc="-45"/>
              <a:t> </a:t>
            </a:r>
            <a:r>
              <a:rPr dirty="0" b="0">
                <a:latin typeface="Times New Roman"/>
                <a:cs typeface="Times New Roman"/>
              </a:rPr>
              <a:t>Upon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detection,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sensor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sends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electrical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pulse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or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digital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signal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indicating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the </a:t>
            </a:r>
            <a:r>
              <a:rPr dirty="0" b="0">
                <a:latin typeface="Times New Roman"/>
                <a:cs typeface="Times New Roman"/>
              </a:rPr>
              <a:t>presence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plastic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material.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95"/>
              </a:spcBef>
            </a:pPr>
            <a:r>
              <a:rPr dirty="0"/>
              <a:t>University</a:t>
            </a:r>
            <a:r>
              <a:rPr dirty="0" spc="-85"/>
              <a:t> </a:t>
            </a:r>
            <a:r>
              <a:rPr dirty="0"/>
              <a:t>organization</a:t>
            </a:r>
            <a:r>
              <a:rPr dirty="0" spc="-80"/>
              <a:t> </a:t>
            </a:r>
            <a:r>
              <a:rPr dirty="0"/>
              <a:t>as</a:t>
            </a:r>
            <a:r>
              <a:rPr dirty="0" spc="-80"/>
              <a:t> </a:t>
            </a:r>
            <a:r>
              <a:rPr dirty="0"/>
              <a:t>an</a:t>
            </a:r>
            <a:r>
              <a:rPr dirty="0" spc="-70"/>
              <a:t> </a:t>
            </a:r>
            <a:r>
              <a:rPr dirty="0" spc="-10"/>
              <a:t>example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688340" y="1622805"/>
            <a:ext cx="10679430" cy="309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Processing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10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Transmission:</a:t>
            </a:r>
            <a:endParaRPr sz="2400">
              <a:latin typeface="Times New Roman"/>
              <a:cs typeface="Times New Roman"/>
            </a:endParaRPr>
          </a:p>
          <a:p>
            <a:pPr marL="12700" marR="29845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Microcontroller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Response: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microcontroller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receives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validates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detection </a:t>
            </a:r>
            <a:r>
              <a:rPr dirty="0" sz="2400">
                <a:latin typeface="Times New Roman"/>
                <a:cs typeface="Times New Roman"/>
              </a:rPr>
              <a:t>signal,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filters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false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positives,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classifies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event.</a:t>
            </a:r>
            <a:endParaRPr sz="2400">
              <a:latin typeface="Times New Roman"/>
              <a:cs typeface="Times New Roman"/>
            </a:endParaRPr>
          </a:p>
          <a:p>
            <a:pPr marL="12700" marR="555625">
              <a:lnSpc>
                <a:spcPct val="100000"/>
              </a:lnSpc>
              <a:spcBef>
                <a:spcPts val="580"/>
              </a:spcBef>
              <a:tabLst>
                <a:tab pos="1341755" algn="l"/>
              </a:tabLst>
            </a:pP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Stream: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transmits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including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detection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timestamp,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sensor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ID</a:t>
            </a:r>
            <a:r>
              <a:rPr dirty="0" sz="2400">
                <a:latin typeface="Times New Roman"/>
                <a:cs typeface="Times New Roman"/>
              </a:rPr>
              <a:t>	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local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cloud-based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monitoring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interface.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575"/>
              </a:spcBef>
              <a:buAutoNum type="arabicPeriod" startAt="5"/>
              <a:tabLst>
                <a:tab pos="317500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Real-</a:t>
            </a:r>
            <a:r>
              <a:rPr dirty="0" sz="2400" spc="-20" b="1">
                <a:latin typeface="Times New Roman"/>
                <a:cs typeface="Times New Roman"/>
              </a:rPr>
              <a:t>Time</a:t>
            </a:r>
            <a:r>
              <a:rPr dirty="0" sz="2400" spc="-1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Alert and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Reporting: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Output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Display: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event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displayed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interface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such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LCD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screen,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or </a:t>
            </a:r>
            <a:r>
              <a:rPr dirty="0" sz="2400">
                <a:latin typeface="Times New Roman"/>
                <a:cs typeface="Times New Roman"/>
              </a:rPr>
              <a:t>IoT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application.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4930" y="1084833"/>
            <a:ext cx="9545955" cy="3806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3180" marR="207645" indent="3302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“Automated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Identification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Sensor Technology”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presents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efficient,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sustainable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approach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addressing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major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challenges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urban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management.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infrared,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ultrasonic,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inductive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microcontroller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IoT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successfully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detects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differentiates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plastics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networks.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10">
                <a:latin typeface="Times New Roman"/>
                <a:cs typeface="Times New Roman"/>
              </a:rPr>
              <a:t> monitoring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alert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dependency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inspection,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response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times,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minimize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health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risks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sanitation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workers.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43180" marR="5080" indent="-3048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enhances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efficiency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maintenance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contributes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environmental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protection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city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preventing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blockages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r>
              <a:rPr dirty="0" sz="2000" spc="5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promoting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sustainable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management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practices.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low-</a:t>
            </a:r>
            <a:r>
              <a:rPr dirty="0" sz="2000" spc="-10">
                <a:latin typeface="Times New Roman"/>
                <a:cs typeface="Times New Roman"/>
              </a:rPr>
              <a:t>cost, </a:t>
            </a:r>
            <a:r>
              <a:rPr dirty="0" sz="2000">
                <a:latin typeface="Times New Roman"/>
                <a:cs typeface="Times New Roman"/>
              </a:rPr>
              <a:t>scalable,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adaptable,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suitable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deployment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diverse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drainage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infrastructures.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dirty="0" sz="3200" spc="-10"/>
              <a:t>Conclusion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8997695" y="76149"/>
            <a:ext cx="3162300" cy="1186180"/>
            <a:chOff x="8997695" y="76149"/>
            <a:chExt cx="3162300" cy="1186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695" y="76149"/>
              <a:ext cx="3162300" cy="11857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386" y="271157"/>
              <a:ext cx="2592324" cy="616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474980" y="1026414"/>
            <a:ext cx="8766175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https://ieeexplore.ieee.org/stamp/stamp.jsp?tp=&amp;arnumber=9623149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https://ieeexplore.ieee.org/document/10084257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https://ieeexplore.ieee.org/document/10497198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https://ieeexplore.ieee.org/document/10070054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IoT</a:t>
            </a:r>
            <a:r>
              <a:rPr dirty="0" u="sng" sz="2400" spc="-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-</a:t>
            </a:r>
            <a:r>
              <a:rPr dirty="0" u="sng" sz="2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Based</a:t>
            </a:r>
            <a:r>
              <a:rPr dirty="0" u="sng" sz="24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2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Smart</a:t>
            </a:r>
            <a:r>
              <a:rPr dirty="0" u="sng" sz="2400" spc="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2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Drainage</a:t>
            </a:r>
            <a:r>
              <a:rPr dirty="0" u="sng" sz="24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2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System</a:t>
            </a:r>
            <a:r>
              <a:rPr dirty="0" u="sng" sz="24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2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| 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SpringerLink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/>
              </a:rPr>
              <a:t>https://ijercse.com/article/1%20April%202025%20IJERCSE.pdf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8"/>
              </a:rPr>
              <a:t>https://ijrpr.com/uploads/V4ISSUE10/IJRPR18367.pdf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9"/>
              </a:rPr>
              <a:t>https://hittransaction.in/journals/10_NSIC2025/CRC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9"/>
              </a:rPr>
              <a:t>-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9"/>
              </a:rPr>
              <a:t>03.pdf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0"/>
              </a:rPr>
              <a:t>https://www.ijsdr.org/papers/IJSDR1905040.pdf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1"/>
              </a:rPr>
              <a:t>https://www.irejournals.com/formatedpaper/1700668.pdf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2"/>
              </a:rPr>
              <a:t>https://link.springer.com/article/10.1007/s10230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2"/>
              </a:rPr>
              <a:t>-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2"/>
              </a:rPr>
              <a:t>025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2"/>
              </a:rPr>
              <a:t>-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2"/>
              </a:rPr>
              <a:t>01063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2"/>
              </a:rPr>
              <a:t>-</a:t>
            </a:r>
            <a:r>
              <a:rPr dirty="0" u="sng" sz="24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2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3"/>
              </a:rPr>
              <a:t>https://link.springer.com/article/10.1007/s10311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3"/>
              </a:rPr>
              <a:t>-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3"/>
              </a:rPr>
              <a:t>025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3"/>
              </a:rPr>
              <a:t>-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3"/>
              </a:rPr>
              <a:t>01874</a:t>
            </a: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3"/>
              </a:rPr>
              <a:t>-</a:t>
            </a:r>
            <a:r>
              <a:rPr dirty="0" u="sng" sz="24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3"/>
              </a:rPr>
              <a:t>z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4"/>
              </a:rPr>
              <a:t>https://www.jetir.org/papers/JETIR2405620.pdf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6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535940" y="253746"/>
            <a:ext cx="10867390" cy="554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https://link.springer.com/article/10.1007/s10661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025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14081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-</a:t>
            </a:r>
            <a:r>
              <a:rPr dirty="0" u="sng" sz="27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8</a:t>
            </a: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https://link.springer.com/article/10.1007/s10661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025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13675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27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6</a:t>
            </a:r>
            <a:endParaRPr sz="27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625"/>
              </a:spcBef>
              <a:buClr>
                <a:srgbClr val="000000"/>
              </a:buClr>
              <a:buFont typeface="Arial"/>
              <a:buChar char="•"/>
              <a:tabLst>
                <a:tab pos="355600" algn="l"/>
              </a:tabLst>
            </a:pP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https://www.ijraset.com/research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paper/automatic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drainage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monitoring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-</a:t>
            </a:r>
            <a:r>
              <a:rPr dirty="0" u="sng" sz="27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and</a:t>
            </a:r>
            <a:r>
              <a:rPr dirty="0" u="sng" sz="27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control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-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system</a:t>
            </a: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https://ijrpr.com/uploads/V5ISSUE5/IJRPR27265.pdf</a:t>
            </a: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https://www.tandfonline.com/doi/full/10.1080/15623599.2022.2085853</a:t>
            </a: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/>
              </a:rPr>
              <a:t>https://www.sciencedirect.com/science/article/abs/pii/S0926580516304319</a:t>
            </a: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8"/>
              </a:rPr>
              <a:t>https://www.sciencedirect.com/science/article/pii</a:t>
            </a:r>
            <a:r>
              <a:rPr dirty="0" u="sng" sz="27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8"/>
              </a:rPr>
              <a:t>/S2095756417300788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700" b="1">
                <a:latin typeface="Times New Roman"/>
                <a:cs typeface="Times New Roman"/>
              </a:rPr>
              <a:t>Book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spc="-10" b="1">
                <a:latin typeface="Times New Roman"/>
                <a:cs typeface="Times New Roman"/>
              </a:rPr>
              <a:t>Reference:</a:t>
            </a:r>
            <a:endParaRPr sz="2700">
              <a:latin typeface="Times New Roman"/>
              <a:cs typeface="Times New Roman"/>
            </a:endParaRPr>
          </a:p>
          <a:p>
            <a:pPr marL="299085" marR="212090" indent="-287020">
              <a:lnSpc>
                <a:spcPts val="2600"/>
              </a:lnSpc>
              <a:spcBef>
                <a:spcPts val="62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700" i="1">
                <a:latin typeface="Times New Roman"/>
                <a:cs typeface="Times New Roman"/>
              </a:rPr>
              <a:t>Plastic</a:t>
            </a:r>
            <a:r>
              <a:rPr dirty="0" sz="2700" spc="-55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Products</a:t>
            </a:r>
            <a:r>
              <a:rPr dirty="0" sz="2700" spc="-45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Leach</a:t>
            </a:r>
            <a:r>
              <a:rPr dirty="0" sz="2700" spc="-30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Chemicals</a:t>
            </a:r>
            <a:r>
              <a:rPr dirty="0" sz="2700" spc="-35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That</a:t>
            </a:r>
            <a:r>
              <a:rPr dirty="0" sz="2700" spc="-30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Induce</a:t>
            </a:r>
            <a:r>
              <a:rPr dirty="0" sz="2700" spc="-30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In</a:t>
            </a:r>
            <a:r>
              <a:rPr dirty="0" sz="2700" spc="-35" i="1">
                <a:latin typeface="Times New Roman"/>
                <a:cs typeface="Times New Roman"/>
              </a:rPr>
              <a:t> </a:t>
            </a:r>
            <a:r>
              <a:rPr dirty="0" sz="2700" spc="-40" i="1">
                <a:latin typeface="Times New Roman"/>
                <a:cs typeface="Times New Roman"/>
              </a:rPr>
              <a:t>Vitro</a:t>
            </a:r>
            <a:r>
              <a:rPr dirty="0" sz="2700" spc="-35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…</a:t>
            </a:r>
            <a:r>
              <a:rPr dirty="0" sz="2700" spc="-10" i="1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by</a:t>
            </a:r>
            <a:r>
              <a:rPr dirty="0" sz="2700" spc="-10">
                <a:latin typeface="Times New Roman"/>
                <a:cs typeface="Times New Roman"/>
              </a:rPr>
              <a:t> Zimmermann </a:t>
            </a:r>
            <a:r>
              <a:rPr dirty="0" sz="2700">
                <a:latin typeface="Times New Roman"/>
                <a:cs typeface="Times New Roman"/>
              </a:rPr>
              <a:t>et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al.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(2021)</a:t>
            </a:r>
            <a:endParaRPr sz="2700">
              <a:latin typeface="Times New Roman"/>
              <a:cs typeface="Times New Roman"/>
            </a:endParaRPr>
          </a:p>
          <a:p>
            <a:pPr marL="299085" marR="875665" indent="-287020">
              <a:lnSpc>
                <a:spcPct val="80000"/>
              </a:lnSpc>
              <a:spcBef>
                <a:spcPts val="66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700" i="1">
                <a:latin typeface="Times New Roman"/>
                <a:cs typeface="Times New Roman"/>
              </a:rPr>
              <a:t>Safety</a:t>
            </a:r>
            <a:r>
              <a:rPr dirty="0" sz="2700" spc="-75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of</a:t>
            </a:r>
            <a:r>
              <a:rPr dirty="0" sz="2700" spc="-40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recycled</a:t>
            </a:r>
            <a:r>
              <a:rPr dirty="0" sz="2700" spc="-30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plastics</a:t>
            </a:r>
            <a:r>
              <a:rPr dirty="0" sz="2700" spc="-35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and</a:t>
            </a:r>
            <a:r>
              <a:rPr dirty="0" sz="2700" spc="-80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textiles:</a:t>
            </a:r>
            <a:r>
              <a:rPr dirty="0" sz="2700" spc="-50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Review</a:t>
            </a:r>
            <a:r>
              <a:rPr dirty="0" sz="2700" spc="-30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on</a:t>
            </a:r>
            <a:r>
              <a:rPr dirty="0" sz="2700" spc="-25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the</a:t>
            </a:r>
            <a:r>
              <a:rPr dirty="0" sz="2700" spc="-45" i="1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…</a:t>
            </a:r>
            <a:r>
              <a:rPr dirty="0" sz="2700" spc="5" i="1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by</a:t>
            </a:r>
            <a:r>
              <a:rPr dirty="0" sz="2700" spc="-16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AK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Undas (2023)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debashis.sengupta</dc:creator>
  <dc:title>AIG-POC</dc:title>
  <dcterms:created xsi:type="dcterms:W3CDTF">2026-02-14T02:14:57Z</dcterms:created>
  <dcterms:modified xsi:type="dcterms:W3CDTF">2026-02-14T02:14:57Z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2026-02-14T00:00:00Z</vt:filetime>
  </property>
  <property fmtid="{D5CDD505-2E9C-101B-9397-08002B2CF9AE}" pid="5" name="Producer">
    <vt:lpwstr>Microsoft® PowerPoint® 2019</vt:lpwstr>
  </property>
</Properties>
</file>